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2"/>
          <p:cNvSpPr txBox="1"/>
          <p:nvPr/>
        </p:nvSpPr>
        <p:spPr>
          <a:xfrm>
            <a:off x="812800" y="826676"/>
            <a:ext cx="10566400" cy="6400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 marL="0" indent="0" hangingPunct="0">
              <a:lnSpc>
                <a:spcPts val="5040"/>
              </a:lnSpc>
              <a:spcBef>
                <a:spcPts val="0"/>
              </a:spcBef>
              <a:buNone/>
            </a:pPr>
            <a:r>
              <a:rPr lang="zh-CN" altLang="en-US" sz="36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从结构到精确排版</a:t>
            </a:r>
            <a:endParaRPr lang="zh-CN" altLang="en-US" sz="36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 3"/>
          <p:cNvSpPr txBox="1"/>
          <p:nvPr/>
        </p:nvSpPr>
        <p:spPr>
          <a:xfrm>
            <a:off x="812800" y="1656060"/>
            <a:ext cx="7937500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 hangingPunct="0">
              <a:lnSpc>
                <a:spcPts val="2700"/>
              </a:lnSpc>
              <a:spcBef>
                <a:spcPts val="0"/>
              </a:spcBef>
              <a:buNone/>
            </a:pPr>
            <a:r>
              <a:rPr lang="zh-CN" altLang="en-US" sz="1800" b="0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中文长段落用于检查实际换行。</a:t>
            </a:r>
            <a:r>
              <a:rPr lang="zh-CN" altLang="en-US" sz="18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重点内容保持可编辑。</a:t>
            </a:r>
            <a:r>
              <a:rPr lang="zh-CN" altLang="en-US" sz="1800" b="0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浏览器测量文字的真实</a:t>
            </a:r>
            <a:r>
              <a:rPr lang="zh-CN" altLang="en-US" sz="1800" b="0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尺寸，导出为原生文本框。</a:t>
            </a:r>
            <a:endParaRPr lang="zh-CN" altLang="en-US" sz="1800" b="0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2"/>
          <p:cNvSpPr txBox="1"/>
          <p:nvPr/>
        </p:nvSpPr>
        <p:spPr>
          <a:xfrm>
            <a:off x="812800" y="826676"/>
            <a:ext cx="10566400" cy="6400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 marL="0" indent="0" hangingPunct="0">
              <a:lnSpc>
                <a:spcPts val="5040"/>
              </a:lnSpc>
              <a:spcBef>
                <a:spcPts val="0"/>
              </a:spcBef>
              <a:buNone/>
            </a:pPr>
            <a:r>
              <a:rPr lang="zh-CN" altLang="en-US" sz="36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清晰的信息层级</a:t>
            </a:r>
            <a:endParaRPr lang="zh-CN" altLang="en-US" sz="36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12800" y="1656060"/>
          <a:ext cx="9525000" cy="1249561"/>
        </p:xfrm>
        <a:graphic>
          <a:graphicData uri="http://schemas.openxmlformats.org/drawingml/2006/table">
            <a:tbl>
              <a:tblPr/>
              <a:tblGrid>
                <a:gridCol w="3052266"/>
                <a:gridCol w="6472734"/>
              </a:tblGrid>
              <a:tr h="624780">
                <a:tc>
                  <a:txBody>
                    <a:bodyPr wrap="none" rtlCol="0">
                      <a:noAutofit/>
                    </a:bodyPr>
                    <a:lstStyle/>
                    <a:p>
                      <a:pPr algn="l" marL="0" indent="0" hangingPunct="0">
                        <a:lnSpc>
                          <a:spcPts val="252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800" b="1" i="0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  <a:endParaRPr lang="zh-CN" altLang="en-US" sz="1800" b="1" i="0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52400" marR="152400" marT="158280" marB="1465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 wrap="none" rtlCol="0">
                      <a:noAutofit/>
                    </a:bodyPr>
                    <a:lstStyle/>
                    <a:p>
                      <a:pPr algn="l" marL="0" indent="0" hangingPunct="0">
                        <a:lnSpc>
                          <a:spcPts val="252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800" b="1" i="0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  <a:endParaRPr lang="zh-CN" altLang="en-US" sz="1800" b="1" i="0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52400" marR="152400" marT="158280" marB="1465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43447"/>
                    </a:solidFill>
                  </a:tcPr>
                </a:tc>
              </a:tr>
              <a:tr h="624780">
                <a:tc>
                  <a:txBody>
                    <a:bodyPr wrap="none" rtlCol="0">
                      <a:noAutofit/>
                    </a:bodyPr>
                    <a:lstStyle/>
                    <a:p>
                      <a:pPr algn="l" marL="0" indent="0" hangingPunct="0">
                        <a:lnSpc>
                          <a:spcPts val="252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800" b="0" i="0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</a:t>
                      </a:r>
                      <a:endParaRPr lang="zh-CN" altLang="en-US" sz="1800" b="0" i="0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52400" marR="152400" marT="158280" marB="1465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none" rtlCol="0">
                      <a:noAutofit/>
                    </a:bodyPr>
                    <a:lstStyle/>
                    <a:p>
                      <a:pPr algn="l" marL="0" indent="0" hangingPunct="0">
                        <a:lnSpc>
                          <a:spcPts val="252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800" b="0" i="0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 PPTX</a:t>
                      </a:r>
                      <a:endParaRPr lang="zh-CN" altLang="en-US" sz="1800" b="0" i="0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52400" marR="152400" marT="158280" marB="1465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x-shape 4"/>
          <p:cNvSpPr/>
          <p:nvPr/>
        </p:nvSpPr>
        <p:spPr>
          <a:xfrm>
            <a:off x="812800" y="3108821"/>
            <a:ext cx="3810000" cy="952500"/>
          </a:xfrm>
          <a:prstGeom prst="roundRect">
            <a:avLst>
              <a:gd name="adj" fmla="val 0"/>
            </a:avLst>
          </a:prstGeom>
          <a:solidFill>
            <a:srgbClr val="197A83"/>
          </a:solidFill>
          <a:ln>
            <a:noFill/>
          </a:ln>
        </p:spPr>
        <p:txBody>
          <a:bodyPr wrap="none" lIns="0" tIns="7056" rIns="0" bIns="-7056" anchor="t" rtlCol="0">
            <a:noAutofit/>
          </a:bodyPr>
          <a:lstStyle/>
          <a:p>
            <a:pPr algn="l" marL="0" indent="0" hangingPunct="0">
              <a:lnSpc>
                <a:spcPts val="2800"/>
              </a:lnSpc>
              <a:spcBef>
                <a:spcPts val="0"/>
              </a:spcBef>
              <a:buNone/>
            </a:pPr>
            <a:r>
              <a:rPr lang="zh-CN" altLang="en-US" sz="2000" b="0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文字与形状分层</a:t>
            </a:r>
            <a:endParaRPr lang="zh-CN" altLang="en-US" sz="2000" b="0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sual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2"/>
          <p:cNvSpPr txBox="1"/>
          <p:nvPr/>
        </p:nvSpPr>
        <p:spPr>
          <a:xfrm>
            <a:off x="812800" y="826676"/>
            <a:ext cx="10566400" cy="6400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 marL="0" indent="0" hangingPunct="0">
              <a:lnSpc>
                <a:spcPts val="5040"/>
              </a:lnSpc>
              <a:spcBef>
                <a:spcPts val="0"/>
              </a:spcBef>
              <a:buNone/>
            </a:pPr>
            <a:r>
              <a:rPr lang="zh-CN" altLang="en-US" sz="36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局部修改，逐页检查</a:t>
            </a:r>
            <a:endParaRPr lang="zh-CN" altLang="en-US" sz="36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" name="svg 3"/>
          <p:cNvGrpSpPr/>
          <p:nvPr/>
        </p:nvGrpSpPr>
        <p:grpSpPr>
          <a:xfrm>
            <a:off x="812800" y="1656060"/>
            <a:ext cx="2540000" cy="1524000"/>
            <a:chOff x="812800" y="1656060"/>
            <a:chExt cx="2540000" cy="1524000"/>
          </a:xfrm>
        </p:grpSpPr>
        <p:sp>
          <p:nvSpPr>
            <p:cNvPr id="4" name="svg-rect 4"/>
            <p:cNvSpPr/>
            <p:nvPr/>
          </p:nvSpPr>
          <p:spPr>
            <a:xfrm>
              <a:off x="812800" y="1656060"/>
              <a:ext cx="1016000" cy="1524000"/>
            </a:xfrm>
            <a:prstGeom prst="rect">
              <a:avLst/>
            </a:prstGeom>
            <a:solidFill>
              <a:srgbClr val="33B7A0"/>
            </a:solidFill>
            <a:ln>
              <a:noFill/>
            </a:ln>
          </p:spPr>
        </p:sp>
        <p:sp>
          <p:nvSpPr>
            <p:cNvPr id="5" name="svg-path 5"/>
            <p:cNvSpPr/>
            <p:nvPr/>
          </p:nvSpPr>
          <p:spPr>
            <a:xfrm>
              <a:off x="2082800" y="2291060"/>
              <a:ext cx="1270000" cy="889000"/>
            </a:xfrm>
            <a:custGeom>
              <a:avLst/>
              <a:gdLst/>
              <a:ahLst/>
              <a:cxnLst/>
              <a:rect l="0" t="0" r="r" b="b"/>
              <a:pathLst>
                <a:path w="1270000" h="889000" fill="none">
                  <a:moveTo>
                    <a:pt x="0" y="889000"/>
                  </a:moveTo>
                  <a:lnTo>
                    <a:pt x="508000" y="0"/>
                  </a:lnTo>
                  <a:lnTo>
                    <a:pt x="1270000" y="444500"/>
                  </a:lnTo>
                </a:path>
              </a:pathLst>
            </a:custGeom>
            <a:noFill/>
            <a:ln w="50800">
              <a:solidFill>
                <a:srgbClr val="FFCC66"/>
              </a:solidFill>
              <a:prstDash val="solid"/>
            </a:ln>
          </p:spPr>
        </p:sp>
      </p:grpSp>
      <p:pic>
        <p:nvPicPr>
          <p:cNvPr id="6" name="image 6"/>
          <p:cNvPicPr/>
          <p:nvPr/>
        </p:nvPicPr>
        <p:blipFill>
          <a:blip r:embed="rId100"/>
          <a:srcRect l="0" t="3333" r="0" b="3333"/>
          <a:stretch>
            <a:fillRect/>
          </a:stretch>
        </p:blipFill>
        <p:spPr>
          <a:xfrm>
            <a:off x="4292600" y="1656060"/>
            <a:ext cx="1905000" cy="177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PER ADC">
  <a:themeElements>
    <a:clrScheme name="SUPER ADC">
      <a:dk1>
        <a:srgbClr val="000000"/>
      </a:dk1>
      <a:lt1>
        <a:srgbClr val="FFFFFF"/>
      </a:lt1>
      <a:dk2>
        <a:srgbClr val="1F2A30"/>
      </a:dk2>
      <a:lt2>
        <a:srgbClr val="F4F6F8"/>
      </a:lt2>
      <a:accent1>
        <a:srgbClr val="1F3A5F"/>
      </a:accent1>
      <a:accent2>
        <a:srgbClr val="C2562F"/>
      </a:accent2>
      <a:accent3>
        <a:srgbClr val="F2A65A"/>
      </a:accent3>
      <a:accent4>
        <a:srgbClr val="3E6B8F"/>
      </a:accent4>
      <a:accent5>
        <a:srgbClr val="7A858F"/>
      </a:accent5>
      <a:accent6>
        <a:srgbClr val="1B7A3A"/>
      </a:accent6>
      <a:hlink>
        <a:srgbClr val="0563C1"/>
      </a:hlink>
      <a:folHlink>
        <a:srgbClr val="954F72"/>
      </a:folHlink>
    </a:clrScheme>
    <a:fontScheme name="SUPER ADC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SUPER AD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SUPER ADC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production</dc:title>
  <dc:creator>SUPER ADC</dc:creator>
  <dcterms:created xsi:type="dcterms:W3CDTF">2026-10-26T17:09:38Z</dcterms:created>
  <dcterms:modified xsi:type="dcterms:W3CDTF">2026-10-26T17:09:38Z</dcterms:modified>
</cp:coreProperties>
</file>